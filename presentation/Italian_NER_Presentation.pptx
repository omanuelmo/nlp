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UmBERTo</c:v>
                </c:pt>
              </c:strCache>
            </c:strRef>
          </c:tx>
          <c:spPr>
            <a:solidFill>
              <a:srgbClr val="A8281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</c:v>
                  </c:pt>
                  <c:pt idx="1">
                    <c:v>ORG</c:v>
                  </c:pt>
                  <c:pt idx="2">
                    <c:v>LOC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0.9496</c:v>
                </c:pt>
                <c:pt idx="1">
                  <c:v>0.84</c:v>
                </c:pt>
                <c:pt idx="2">
                  <c:v>0.8677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XLM-RoBERTa</c:v>
                </c:pt>
              </c:strCache>
            </c:strRef>
          </c:tx>
          <c:spPr>
            <a:solidFill>
              <a:srgbClr val="3E5C7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</c:v>
                  </c:pt>
                  <c:pt idx="1">
                    <c:v>ORG</c:v>
                  </c:pt>
                  <c:pt idx="2">
                    <c:v>LOC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0.932</c:v>
                </c:pt>
                <c:pt idx="1">
                  <c:v>0.8118</c:v>
                </c:pt>
                <c:pt idx="2">
                  <c:v>0.8515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E6E3E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UmBERTo</c:v>
                </c:pt>
              </c:strCache>
            </c:strRef>
          </c:tx>
          <c:spPr>
            <a:solidFill>
              <a:srgbClr val="A8281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ADG</c:v>
                  </c:pt>
                  <c:pt idx="1">
                    <c:v>Fiction</c:v>
                  </c:pt>
                  <c:pt idx="2">
                    <c:v>Wikinews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0.8239</c:v>
                </c:pt>
                <c:pt idx="1">
                  <c:v>0.8828</c:v>
                </c:pt>
                <c:pt idx="2">
                  <c:v>0.9051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XLM-RoBERTa</c:v>
                </c:pt>
              </c:strCache>
            </c:strRef>
          </c:tx>
          <c:spPr>
            <a:solidFill>
              <a:srgbClr val="3E5C7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2B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ADG</c:v>
                  </c:pt>
                  <c:pt idx="1">
                    <c:v>Fiction</c:v>
                  </c:pt>
                  <c:pt idx="2">
                    <c:v>Wikinews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0.8167</c:v>
                </c:pt>
                <c:pt idx="1">
                  <c:v>0.8902</c:v>
                </c:pt>
                <c:pt idx="2">
                  <c:v>0.8799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B2B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E6E3E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fine-tuning and comparing two Transformer models for Italian 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NER = finding persons, organizations, locations in text. Core question: does a model pretrained only on Italian beat a multilingual 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UmBERTo: Italian-only, RoBERTa-based, whole word masking. XLM-R: 100 languages. They differ in more than language: vocab, corpus,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EVALITA 2023 shared task. Three domains, three entity types, BIO tagging. ADG is the smallest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Identical hyperparameters. XLM-R needed batch 1 x 8 gradient accumulation because of its big vocabulary; fp16 only for XLM-R. Model selected on dev 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Test-set F1: 0.8945 vs 0.8743, about 2 points. Precision and recall are close for both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UmBERTo better on every type. PER easiest (most training examples), ORG hardest (abbreviations, variable names). Biggest gap on ORG, 2.8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UmBERTo better on Wikinews (+2.5) and ADG (+0.7). XLM-R slightly better on Fiction (+0.7), the only exception. ADG hardest: smallest and rich in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Language-specific pretraining helps, but not uniformly. Caveats: single run, no significance testing, models differ in more than language (vocab, corpus). Future work: multiple seeds, larger checkpoints, other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2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Italian Named Entity Recognition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Transformer Models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6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UmBERTo vs XLM-RoBERTa on NERMuD 2023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Mo  ·  Natural Language Processing  ·  University of Bologna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8046720" cy="1463040"/>
          </a:xfrm>
          <a:prstGeom prst="roundRect">
            <a:avLst>
              <a:gd name="adj" fmla="val 6250"/>
            </a:avLst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language-specific pretraining beat multilingual pretraining for Italian NER?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822960" cy="822960"/>
          </a:xfrm>
          <a:prstGeom prst="ellipse">
            <a:avLst/>
          </a:prstGeom>
          <a:solidFill>
            <a:srgbClr val="A8281C"/>
          </a:solidFill>
          <a:ln w="12700">
            <a:solidFill>
              <a:srgbClr val="A82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246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32461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Pope Leo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291840" y="3246120"/>
            <a:ext cx="822960" cy="822960"/>
          </a:xfrm>
          <a:prstGeom prst="ellipse">
            <a:avLst/>
          </a:prstGeom>
          <a:solidFill>
            <a:srgbClr val="A8281C"/>
          </a:solidFill>
          <a:ln w="12700">
            <a:solidFill>
              <a:srgbClr val="A8281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3246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251960" y="32461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Agostino Gemelli Hospital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35040" y="3246120"/>
            <a:ext cx="822960" cy="822960"/>
          </a:xfrm>
          <a:prstGeom prst="ellipse">
            <a:avLst/>
          </a:prstGeom>
          <a:solidFill>
            <a:srgbClr val="A8281C"/>
          </a:solidFill>
          <a:ln w="12700">
            <a:solidFill>
              <a:srgbClr val="A8281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3246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95160" y="324612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models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548640" y="1280160"/>
            <a:ext cx="3931920" cy="822960"/>
          </a:xfrm>
          <a:prstGeom prst="rect">
            <a:avLst/>
          </a:prstGeom>
          <a:solidFill>
            <a:srgbClr val="A8281C"/>
          </a:solidFill>
          <a:ln w="12700">
            <a:solidFill>
              <a:srgbClr val="A8281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UmBERTo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Italian-specific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32k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17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Italian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3017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corpus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749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WWM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3749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word masking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663440" y="128016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D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1280160"/>
            <a:ext cx="3931920" cy="822960"/>
          </a:xfrm>
          <a:prstGeom prst="rect">
            <a:avLst/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37760" y="12801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XLM-RoBERTa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Multilingual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93776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E5C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250k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2286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937760" y="3017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E5C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3017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2.5 TB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3749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E5C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MLM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3749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LM only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NERMuD 2023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560320" cy="219456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Wikinews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10,912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examples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560320" cy="219456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204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Fiction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excerpts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377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11,423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examples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35040" y="1371600"/>
            <a:ext cx="2560320" cy="219456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Gasperi speeches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2377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5,147</a:t>
            </a:r>
            <a:endParaRPr lang="en-US" sz="38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examples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86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27,482 train  ·  4,767 dev  ·  4,126 test</a:t>
            </a:r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Tags: B-/I-  PER · ORG · LOC · 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training protocol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1874520" cy="173736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544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2e-5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606040" y="1371600"/>
            <a:ext cx="1874520" cy="173736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606040" y="15544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batch size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1874520" cy="173736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15544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720840" y="1371600"/>
            <a:ext cx="1874520" cy="173736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20840" y="15544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23774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sequence length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4290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Trainer, AdamW, seed 42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checkpoint chosen on dev F1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with seqeval (entity-level P / R / F1)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result: UmBERTo wins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3931920" cy="228600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5448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A82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0.8945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34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UmBERTo · test F1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663440" y="1371600"/>
            <a:ext cx="3931920" cy="228600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55448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3E5C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0.8743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834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XLM-RoBERTa · test F1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of ≈ 2 F1 points, consistent in precision and recall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entity type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80467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domain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80467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931920" cy="3291840"/>
          </a:xfrm>
          <a:prstGeom prst="rect">
            <a:avLst/>
          </a:prstGeom>
          <a:solidFill>
            <a:srgbClr val="A8281C"/>
          </a:solidFill>
          <a:ln w="12700">
            <a:solidFill>
              <a:srgbClr val="A8281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417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Italian-specific model wins overall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 holds for all entity types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 is the exception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663440" y="1280160"/>
            <a:ext cx="3931920" cy="3291840"/>
          </a:xfrm>
          <a:prstGeom prst="rect">
            <a:avLst/>
          </a:prstGeom>
          <a:solidFill>
            <a:srgbClr val="F3F1EF"/>
          </a:solidFill>
          <a:ln w="12700">
            <a:solidFill>
              <a:srgbClr val="F3F1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937760" y="1417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 &amp; next steps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196596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run, no significance test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differ beyond language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multiple seeds, larger models, other datasets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Italian NER with Transformer Models</dc:title>
  <dc:subject>PptxGenJS Presentation</dc:subject>
  <dc:creator>PptxGenJS</dc:creator>
  <cp:lastModifiedBy>PptxGenJS</cp:lastModifiedBy>
  <cp:revision>1</cp:revision>
  <dcterms:created xsi:type="dcterms:W3CDTF">2026-10-23T18:29:45Z</dcterms:created>
  <dcterms:modified xsi:type="dcterms:W3CDTF">2026-10-23T18:29:45Z</dcterms:modified>
</cp:coreProperties>
</file>