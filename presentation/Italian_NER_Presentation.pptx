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</c:v>
                </c:pt>
              </c:strCache>
            </c:strRef>
          </c:tx>
          <c:spPr>
            <a:solidFill>
              <a:srgbClr val="3E5C7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B2B2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E5C7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E5C7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8281C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Wikinews</c:v>
                  </c:pt>
                  <c:pt idx="1">
                    <c:v>Fiction</c:v>
                  </c:pt>
                  <c:pt idx="2">
                    <c:v>ADG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10912</c:v>
                </c:pt>
                <c:pt idx="1">
                  <c:v>11423</c:v>
                </c:pt>
                <c:pt idx="2">
                  <c:v>5147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B2B2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B2B2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35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UmBERTo</c:v>
                </c:pt>
              </c:strCache>
            </c:strRef>
          </c:tx>
          <c:spPr>
            <a:solidFill>
              <a:srgbClr val="A8281C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B2B2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PER</c:v>
                  </c:pt>
                  <c:pt idx="1">
                    <c:v>ORG</c:v>
                  </c:pt>
                  <c:pt idx="2">
                    <c:v>LOC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0.9496</c:v>
                </c:pt>
                <c:pt idx="1">
                  <c:v>0.84</c:v>
                </c:pt>
                <c:pt idx="2">
                  <c:v>0.8677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XLM-RoBERTa</c:v>
                </c:pt>
              </c:strCache>
            </c:strRef>
          </c:tx>
          <c:spPr>
            <a:solidFill>
              <a:srgbClr val="3E5C76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B2B2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PER</c:v>
                  </c:pt>
                  <c:pt idx="1">
                    <c:v>ORG</c:v>
                  </c:pt>
                  <c:pt idx="2">
                    <c:v>LOC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0.932</c:v>
                </c:pt>
                <c:pt idx="1">
                  <c:v>0.8118</c:v>
                </c:pt>
                <c:pt idx="2">
                  <c:v>0.8515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2B2B2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2B2B2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7"/>
        </c:scaling>
        <c:delete val="0"/>
        <c:axPos val="l"/>
        <c:majorGridlines>
          <c:spPr>
            <a:ln w="6350" cap="flat">
              <a:solidFill>
                <a:srgbClr val="E6E3E0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B6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2B2B2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UmBERTo</c:v>
                </c:pt>
              </c:strCache>
            </c:strRef>
          </c:tx>
          <c:spPr>
            <a:solidFill>
              <a:srgbClr val="A8281C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B2B2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ADG</c:v>
                  </c:pt>
                  <c:pt idx="1">
                    <c:v>Fiction</c:v>
                  </c:pt>
                  <c:pt idx="2">
                    <c:v>Wikinews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0.8239</c:v>
                </c:pt>
                <c:pt idx="1">
                  <c:v>0.8828</c:v>
                </c:pt>
                <c:pt idx="2">
                  <c:v>0.9051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XLM-RoBERTa</c:v>
                </c:pt>
              </c:strCache>
            </c:strRef>
          </c:tx>
          <c:spPr>
            <a:solidFill>
              <a:srgbClr val="3E5C76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B2B2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ADG</c:v>
                  </c:pt>
                  <c:pt idx="1">
                    <c:v>Fiction</c:v>
                  </c:pt>
                  <c:pt idx="2">
                    <c:v>Wikinews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0.8167</c:v>
                </c:pt>
                <c:pt idx="1">
                  <c:v>0.8902</c:v>
                </c:pt>
                <c:pt idx="2">
                  <c:v>0.8799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2B2B2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2B2B2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7"/>
        </c:scaling>
        <c:delete val="0"/>
        <c:axPos val="l"/>
        <c:majorGridlines>
          <c:spPr>
            <a:ln w="6350" cap="flat">
              <a:solidFill>
                <a:srgbClr val="E6E3E0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B6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2B2B2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fine-tuning and comparing two Transformer models for Italian 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 goal. Then explain NER with the example sentence: Pope Leo = person, hospital = organization, Rome = location.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word on Transformers: self-attention, all words at once. Then the two models. Stress: they differ in more than language.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domains, but unbalanced: ADG has about half the training data. Then the BIO scheme with Pope Leo.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Identical hyperparameters. XLM-R: batch 1 x 8 accumulation. Seqeval, entity-level. Why F1: accuracy is misleading because most tokens are 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Test-set F1: 0.8945 vs 0.8743, about 2 points. Precision and recall are close for both models.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UmBERTo better on every type. PER easiest (most training examples), ORG hardest (abbreviations, variable names). Biggest gap on ORG, 2.8 points.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UmBERTo better on Wikinews (+2.5) and ADG (+0.7). XLM-R slightly better on Fiction (+0.7), the only exception. ADG hardest: smallest and rich in ORG.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Language-specific pretraining helps, but not uniformly. Caveats: single run, no significance testing, models differ in more than language (vocab, corpus). Future work: multiple seeds, larger checkpoints, other datasets.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A82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9728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Italian Named Entity Recognition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Transformer Models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743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6D9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UmBERTo vs XLM-RoBERTa on NERMuD 2023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206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 Mo  ·  Natural Language Processing  ·  University of Bologna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question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188720"/>
            <a:ext cx="8046720" cy="1188720"/>
          </a:xfrm>
          <a:prstGeom prst="roundRect">
            <a:avLst>
              <a:gd name="adj" fmla="val 7692"/>
            </a:avLst>
          </a:prstGeom>
          <a:solidFill>
            <a:srgbClr val="F3F1EF"/>
          </a:solidFill>
          <a:ln w="12700">
            <a:solidFill>
              <a:srgbClr val="F3F1E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188720"/>
            <a:ext cx="7498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A82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an Italian-specific model beat a multilingual one for Italian NER?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606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NER?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9718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operation for </a:t>
            </a:r>
            <a:pPr indent="0" marL="0">
              <a:buNone/>
            </a:pPr>
            <a:r>
              <a:rPr lang="en-US" sz="2200" b="1" dirty="0">
                <a:solidFill>
                  <a:srgbClr val="A82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Pope Leo</a:t>
            </a:r>
            <a:pPr indent="0" marL="0">
              <a:buNone/>
            </a:pPr>
            <a:r>
              <a:rPr lang="en-US" sz="2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will take place at the </a:t>
            </a:r>
            <a:pPr indent="0" marL="0">
              <a:buNone/>
            </a:pPr>
            <a:r>
              <a:rPr lang="en-US" sz="2200" b="1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Agostino Gemelli Hospital</a:t>
            </a:r>
            <a:pPr indent="0" marL="0">
              <a:buNone/>
            </a:pPr>
            <a:r>
              <a:rPr lang="en-US" sz="2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</a:t>
            </a:r>
            <a:pPr indent="0" marL="0">
              <a:buNone/>
            </a:pPr>
            <a:r>
              <a:rPr lang="en-US" sz="22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Rome</a:t>
            </a:r>
            <a:pPr indent="0" marL="0">
              <a:buNone/>
            </a:pPr>
            <a:r>
              <a:rPr lang="en-US" sz="2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548640" y="397764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A8281C"/>
          </a:solidFill>
          <a:ln w="12700">
            <a:solidFill>
              <a:srgbClr val="A8281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3977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 Person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3429000" y="397764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3E5C76"/>
          </a:solidFill>
          <a:ln w="12700">
            <a:solidFill>
              <a:srgbClr val="3E5C7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429000" y="3977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 Organization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309360" y="397764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309360" y="3977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  Location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two models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143000"/>
            <a:ext cx="8046720" cy="502920"/>
          </a:xfrm>
          <a:prstGeom prst="rect">
            <a:avLst/>
          </a:prstGeom>
          <a:solidFill>
            <a:srgbClr val="F3F1EF"/>
          </a:solidFill>
          <a:ln w="12700">
            <a:solidFill>
              <a:srgbClr val="F3F1E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1430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RoBERTa-based Transformers: self-attention looks at all the words at once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393192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828800"/>
            <a:ext cx="3931920" cy="731520"/>
          </a:xfrm>
          <a:prstGeom prst="rect">
            <a:avLst/>
          </a:prstGeom>
          <a:solidFill>
            <a:srgbClr val="A8281C"/>
          </a:solidFill>
          <a:ln w="12700">
            <a:solidFill>
              <a:srgbClr val="A8281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182880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UmBERTo</a:t>
            </a:r>
            <a:endParaRPr lang="en-US" sz="20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Italian-specific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6974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82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32k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2286000" y="26974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3375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82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Italian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2286000" y="33375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OSCAR corpus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39776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82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WWM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2286000" y="39776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word masking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4663440" y="1828800"/>
            <a:ext cx="393192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663440" y="1828800"/>
            <a:ext cx="3931920" cy="731520"/>
          </a:xfrm>
          <a:prstGeom prst="rect">
            <a:avLst/>
          </a:prstGeom>
          <a:solidFill>
            <a:srgbClr val="3E5C76"/>
          </a:solidFill>
          <a:ln w="12700">
            <a:solidFill>
              <a:srgbClr val="3E5C7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937760" y="182880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XLM-RoBERTa</a:t>
            </a:r>
            <a:endParaRPr lang="en-US" sz="20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Multilingual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4937760" y="26974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E5C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250k</a:t>
            </a:r>
            <a:endParaRPr lang="en-US" sz="24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0" y="26974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4937760" y="33375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E5C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2400" dirty="0"/>
          </a:p>
        </p:txBody>
      </p:sp>
      <p:sp>
        <p:nvSpPr>
          <p:cNvPr id="21" name="Text 18"/>
          <p:cNvSpPr txBox="1"/>
          <p:nvPr/>
        </p:nvSpPr>
        <p:spPr>
          <a:xfrm>
            <a:off x="6400800" y="33375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languages, 2.5 TB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4937760" y="39776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E5C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MLM</a:t>
            </a:r>
            <a:endParaRPr lang="en-US" sz="2400" dirty="0"/>
          </a:p>
        </p:txBody>
      </p:sp>
      <p:sp>
        <p:nvSpPr>
          <p:cNvPr id="23" name="Text 20"/>
          <p:cNvSpPr txBox="1"/>
          <p:nvPr/>
        </p:nvSpPr>
        <p:spPr>
          <a:xfrm>
            <a:off x="6400800" y="39776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 LM only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Dataset: NERMuD 2023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1887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examples per domain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508760"/>
          <a:ext cx="420624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40233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 ·  Literature  ·  De Gasperi speeches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5120640" y="1188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 labels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5120640" y="1645920"/>
            <a:ext cx="822960" cy="548640"/>
          </a:xfrm>
          <a:prstGeom prst="rect">
            <a:avLst/>
          </a:prstGeom>
          <a:solidFill>
            <a:srgbClr val="F3F1EF"/>
          </a:solidFill>
          <a:ln w="12700">
            <a:solidFill>
              <a:srgbClr val="F3F1EF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120640" y="164592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Pope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120640" y="2240280"/>
            <a:ext cx="822960" cy="457200"/>
          </a:xfrm>
          <a:prstGeom prst="rect">
            <a:avLst/>
          </a:prstGeom>
          <a:solidFill>
            <a:srgbClr val="A8281C"/>
          </a:solidFill>
          <a:ln w="12700">
            <a:solidFill>
              <a:srgbClr val="A8281C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5120640" y="22402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B-PER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007608" y="1645920"/>
            <a:ext cx="822960" cy="548640"/>
          </a:xfrm>
          <a:prstGeom prst="rect">
            <a:avLst/>
          </a:prstGeom>
          <a:solidFill>
            <a:srgbClr val="F3F1EF"/>
          </a:solidFill>
          <a:ln w="12700">
            <a:solidFill>
              <a:srgbClr val="F3F1EF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007608" y="164592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007608" y="2240280"/>
            <a:ext cx="822960" cy="457200"/>
          </a:xfrm>
          <a:prstGeom prst="rect">
            <a:avLst/>
          </a:prstGeom>
          <a:solidFill>
            <a:srgbClr val="A8281C"/>
          </a:solidFill>
          <a:ln w="12700">
            <a:solidFill>
              <a:srgbClr val="A8281C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007608" y="22402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I-PER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894576" y="1645920"/>
            <a:ext cx="822960" cy="548640"/>
          </a:xfrm>
          <a:prstGeom prst="rect">
            <a:avLst/>
          </a:prstGeom>
          <a:solidFill>
            <a:srgbClr val="F3F1EF"/>
          </a:solidFill>
          <a:ln w="12700">
            <a:solidFill>
              <a:srgbClr val="F3F1EF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894576" y="164592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visited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6894576" y="2240280"/>
            <a:ext cx="822960" cy="457200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894576" y="22402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7781544" y="1645920"/>
            <a:ext cx="822960" cy="548640"/>
          </a:xfrm>
          <a:prstGeom prst="rect">
            <a:avLst/>
          </a:prstGeom>
          <a:solidFill>
            <a:srgbClr val="F3F1EF"/>
          </a:solidFill>
          <a:ln w="12700">
            <a:solidFill>
              <a:srgbClr val="F3F1EF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7781544" y="164592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Rome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7781544" y="2240280"/>
            <a:ext cx="822960" cy="457200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7781544" y="22402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B-LOC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5120640" y="297180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= beginning of an entity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= inside an entity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= outside any entity</a:t>
            </a:r>
            <a:endParaRPr lang="en-US" sz="1500" dirty="0"/>
          </a:p>
        </p:txBody>
      </p:sp>
      <p:sp>
        <p:nvSpPr>
          <p:cNvPr id="25" name="Shape 21"/>
          <p:cNvSpPr/>
          <p:nvPr/>
        </p:nvSpPr>
        <p:spPr>
          <a:xfrm>
            <a:off x="548640" y="4389120"/>
            <a:ext cx="7498080" cy="365760"/>
          </a:xfrm>
          <a:prstGeom prst="rect">
            <a:avLst/>
          </a:prstGeom>
          <a:solidFill>
            <a:srgbClr val="F3F1EF"/>
          </a:solidFill>
          <a:ln w="12700">
            <a:solidFill>
              <a:srgbClr val="F3F1EF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548640" y="43891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27,482 train  ·  4,767 dev  ·  4,126 test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training protocol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280160"/>
            <a:ext cx="1499616" cy="1463040"/>
          </a:xfrm>
          <a:prstGeom prst="rect">
            <a:avLst/>
          </a:prstGeom>
          <a:solidFill>
            <a:srgbClr val="F3F1EF"/>
          </a:solidFill>
          <a:ln w="12700">
            <a:solidFill>
              <a:srgbClr val="F3F1E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371600"/>
            <a:ext cx="14996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A82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2e-5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2103120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185416" y="1280160"/>
            <a:ext cx="1499616" cy="1463040"/>
          </a:xfrm>
          <a:prstGeom prst="rect">
            <a:avLst/>
          </a:prstGeom>
          <a:solidFill>
            <a:srgbClr val="F3F1EF"/>
          </a:solidFill>
          <a:ln w="12700">
            <a:solidFill>
              <a:srgbClr val="F3F1E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185416" y="1371600"/>
            <a:ext cx="14996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A82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2231136" y="2103120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batch size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822192" y="1280160"/>
            <a:ext cx="1499616" cy="1463040"/>
          </a:xfrm>
          <a:prstGeom prst="rect">
            <a:avLst/>
          </a:prstGeom>
          <a:solidFill>
            <a:srgbClr val="F3F1EF"/>
          </a:solidFill>
          <a:ln w="12700">
            <a:solidFill>
              <a:srgbClr val="F3F1E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822192" y="1371600"/>
            <a:ext cx="14996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A82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2" name="Text 9"/>
          <p:cNvSpPr txBox="1"/>
          <p:nvPr/>
        </p:nvSpPr>
        <p:spPr>
          <a:xfrm>
            <a:off x="3867912" y="2103120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458968" y="1280160"/>
            <a:ext cx="1499616" cy="1463040"/>
          </a:xfrm>
          <a:prstGeom prst="rect">
            <a:avLst/>
          </a:prstGeom>
          <a:solidFill>
            <a:srgbClr val="F3F1EF"/>
          </a:solidFill>
          <a:ln w="12700">
            <a:solidFill>
              <a:srgbClr val="F3F1E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58968" y="1371600"/>
            <a:ext cx="14996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A82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256</a:t>
            </a:r>
            <a:endParaRPr lang="en-US" sz="3400" dirty="0"/>
          </a:p>
        </p:txBody>
      </p:sp>
      <p:sp>
        <p:nvSpPr>
          <p:cNvPr id="15" name="Text 12"/>
          <p:cNvSpPr txBox="1"/>
          <p:nvPr/>
        </p:nvSpPr>
        <p:spPr>
          <a:xfrm>
            <a:off x="5504688" y="2103120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length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7095744" y="1280160"/>
            <a:ext cx="1499616" cy="1463040"/>
          </a:xfrm>
          <a:prstGeom prst="rect">
            <a:avLst/>
          </a:prstGeom>
          <a:solidFill>
            <a:srgbClr val="F3F1EF"/>
          </a:solidFill>
          <a:ln w="12700">
            <a:solidFill>
              <a:srgbClr val="F3F1E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095744" y="1371600"/>
            <a:ext cx="14996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A82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</a:t>
            </a:r>
            <a:endParaRPr lang="en-US" sz="3400" dirty="0"/>
          </a:p>
        </p:txBody>
      </p:sp>
      <p:sp>
        <p:nvSpPr>
          <p:cNvPr id="18" name="Text 15"/>
          <p:cNvSpPr txBox="1"/>
          <p:nvPr/>
        </p:nvSpPr>
        <p:spPr>
          <a:xfrm>
            <a:off x="7141464" y="2103120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seed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3017520"/>
            <a:ext cx="8046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checkpoint chosen on the dev set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with seqeval: entity-level precision, recall, F1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entity is correct only if boundaries and type are both right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as main metric: most tokens are "O", so accuracy misleads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result: UmBERTo wins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371600"/>
            <a:ext cx="3931920" cy="2286000"/>
          </a:xfrm>
          <a:prstGeom prst="rect">
            <a:avLst/>
          </a:prstGeom>
          <a:solidFill>
            <a:srgbClr val="F3F1EF"/>
          </a:solidFill>
          <a:ln w="12700">
            <a:solidFill>
              <a:srgbClr val="F3F1E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554480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A82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0.8945</a:t>
            </a:r>
            <a:endParaRPr lang="en-US" sz="6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8346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UmBERTo · test F1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4663440" y="1371600"/>
            <a:ext cx="3931920" cy="2286000"/>
          </a:xfrm>
          <a:prstGeom prst="rect">
            <a:avLst/>
          </a:prstGeom>
          <a:solidFill>
            <a:srgbClr val="F3F1EF"/>
          </a:solidFill>
          <a:ln w="12700">
            <a:solidFill>
              <a:srgbClr val="F3F1E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663440" y="1554480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3E5C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0.8743</a:t>
            </a:r>
            <a:endParaRPr lang="en-US" sz="6600" dirty="0"/>
          </a:p>
        </p:txBody>
      </p:sp>
      <p:sp>
        <p:nvSpPr>
          <p:cNvPr id="9" name="Text 6"/>
          <p:cNvSpPr txBox="1"/>
          <p:nvPr/>
        </p:nvSpPr>
        <p:spPr>
          <a:xfrm>
            <a:off x="4663440" y="28346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XLM-RoBERTa · test F1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7947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of ≈ 2 F1 points, consistent in precision and recall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reference: best NERMuD 2023 systems score around 0.90 F1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entity type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188720"/>
          <a:ext cx="80467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domain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188720"/>
          <a:ext cx="80467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Takeaways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280160"/>
            <a:ext cx="3931920" cy="3291840"/>
          </a:xfrm>
          <a:prstGeom prst="rect">
            <a:avLst/>
          </a:prstGeom>
          <a:solidFill>
            <a:srgbClr val="A8281C"/>
          </a:solidFill>
          <a:ln w="12700">
            <a:solidFill>
              <a:srgbClr val="A8281C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4173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answer: yes, but…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1965960"/>
            <a:ext cx="3383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UmBERTo is better overall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XLM-R is better on fiction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is not uniform across domains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663440" y="1280160"/>
            <a:ext cx="3931920" cy="3291840"/>
          </a:xfrm>
          <a:prstGeom prst="rect">
            <a:avLst/>
          </a:prstGeom>
          <a:solidFill>
            <a:srgbClr val="F3F1EF"/>
          </a:solidFill>
          <a:ln w="12700">
            <a:solidFill>
              <a:srgbClr val="F3F1E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937760" y="14173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next steps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4937760" y="1965960"/>
            <a:ext cx="3383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run, no significance test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differ beyond language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multiple seeds, larger models, other datasets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Italian NER with Transformer Models</dc:title>
  <dc:subject>PptxGenJS Presentation</dc:subject>
  <dc:creator>PptxGenJS</dc:creator>
  <cp:lastModifiedBy>PptxGenJS</cp:lastModifiedBy>
  <cp:revision>1</cp:revision>
  <dcterms:created xsi:type="dcterms:W3CDTF">2026-10-27T22:05:31Z</dcterms:created>
  <dcterms:modified xsi:type="dcterms:W3CDTF">2026-10-27T22:05:31Z</dcterms:modified>
</cp:coreProperties>
</file>